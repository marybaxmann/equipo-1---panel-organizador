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16"/>
    <p:sldId id="259" r:id="rId5"/>
    <p:sldId id="260" r:id="rId6"/>
    <p:sldId id="263" r:id="rId14"/>
    <p:sldId id="261" r:id="rId7"/>
    <p:sldId id="264" r:id="rId15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spc="100" kern="0" dirty="0">
                <a:solidFill>
                  <a:srgbClr val="E8A3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PRUEBAS DE SISTEMA × TITEC · ENTREGA 1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90320"/>
            <a:ext cx="10883392" cy="1412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Estrategia y casuística de pruebas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2905760"/>
            <a:ext cx="1088339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E8A37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Grupo 7 · Microservicio Panel Organizador (TicketU)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346964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Lucas Rojas · Alonso Vera · Christopher Okinggton · Joaquín Martínez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388964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Viernes 23/10/2026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Qué probamos y con qué riesgo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380264" cy="152654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694180"/>
            <a:ext cx="30068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Servicio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480" y="2039620"/>
            <a:ext cx="3006831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Panel Organizador: el organizador autenticado crea, edita, publica y gestiona sus eventos.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89" y="1463675"/>
            <a:ext cx="3380343" cy="152654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294" y="1694180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3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Riesgo principal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6294" y="2039620"/>
            <a:ext cx="3006913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 se publique un evento inválido: fecha pasada, capacidad 0 o tipo sin definir.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82" y="1463675"/>
            <a:ext cx="3380343" cy="152654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6187" y="1694180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Alcance del Avance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6187" y="2039620"/>
            <a:ext cx="3006913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HU-06 · HU-01 · HU-05 · HU-04 y 6 endpoints de integración (commit 1d8a68e).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22199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Ciclo de vida: </a:t>
            </a:r>
            <a:r>
              <a:rPr lang="en-US" sz="1500" b="1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Borrador → Publicado → Finalizado / Cancelado</a:t>
            </a:r>
            <a:r>
              <a:rPr lang="en-US" sz="15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 Solo un Borrador puede publicarse.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1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QA · Panel Organizador · Entrega 1 · Pruebas de Sistema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5975" y="3763675"/>
            <a:ext cx="3380264" cy="152654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3994180"/>
            <a:ext cx="30068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 riesgos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480" y="4339620"/>
            <a:ext cx="3006831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de producto y 6 de proyecto · 6 altos, 8 medios y 4 bajos.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89" y="3763675"/>
            <a:ext cx="3380343" cy="152654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294" y="3994180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3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46 casos en TestLink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6294" y="4339620"/>
            <a:ext cx="3006913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44 individuales (34 para la Entrega 1 y 10 para E2 y E3) + 2 E2E · 28 de importancia alta.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82" y="3763675"/>
            <a:ext cx="3380343" cy="152654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6187" y="3994180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100 % de trazabilidad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6187" y="4339620"/>
            <a:ext cx="3006913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de 14 requisitos con casos y los 12 riesgos de producto cubiertos.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Estrategia de pruebas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70660"/>
          <a:ext cx="10556240" cy="3920000"/>
        </p:xfrm>
        <a:graphic>
          <a:graphicData uri="http://schemas.openxmlformats.org/drawingml/2006/table">
            <a:tbl>
              <a:tblPr/>
              <a:tblGrid>
                <a:gridCol w="2600000"/>
                <a:gridCol w="7956240"/>
              </a:tblGrid>
              <a:tr h="5600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Elemento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Definición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Enfoque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Basado en riesgos (P × I) + metódico, consultivo con TITEC y anti-regresión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Alcance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Dentro: HU-06, HU-01, HU-05, HU-04 y endpoints de integración, por API REST. Fuera: Auth real, otros servicios y broker. HU-02 y HU-03 diseñadas para E2 y E3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Niveles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Estático (HU, OpenAPI, SonarQube) · Componente (API) · Sistema (E2E, se ejecutan en E3)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Tipos y técnicas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Funcional, negativo, contrato, regresión · tabla de decisión, particiones, valores límite, estados, casos de uso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Ambiente y herramientas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Local: Docker, MongoDB 8, mock de Auth y seed fijo · TestLink, Mantis, Postman/Newman, Redocly, SonarQube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Criterios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Entrada: commit, /health 200, seed y smoke · Salida: 100 % alta, ≥ 90 % media, 0 críticos · Suspensión: caída &gt; 30 min o &gt; 30 % bloqueados</a:t>
                      </a:r>
                      <a:endParaRPr lang="en-US" sz="13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41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QA · Panel Organizador · Entrega 1 · Pruebas de Sistema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Riesgos priorizados: los 6 altos de 18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70660"/>
          <a:ext cx="10556240" cy="3360000"/>
        </p:xfrm>
        <a:graphic>
          <a:graphicData uri="http://schemas.openxmlformats.org/drawingml/2006/table">
            <a:tbl>
              <a:tblPr/>
              <a:tblGrid>
                <a:gridCol w="4300000"/>
                <a:gridCol w="900000"/>
                <a:gridCol w="900000"/>
                <a:gridCol w="1300000"/>
                <a:gridCol w="3156240"/>
              </a:tblGrid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Riesgo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Impacto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Prob.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Prioridad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Cobertura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R1 · Sesión inválida o Auth caído y aun así se opera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 · Alto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AUT-01, 02, 04, 06 · CON-07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R2 · Un organizador opera eventos ajenos o impone dueño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 · Alto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PRO-01 a 04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R3 · Publicación en estado no permitido, incompleta o duplicada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 · Alto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PUB-01 a 04 · FEC-06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R4 · Evento no publicado visible para Catálogo o sin sesión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 · Alto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EXP-01 a 04 · FEC-05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R13 · Proyecto: tópicos del broker sin acordar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 · Alto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NOT-01 sobre la tabla de salida (E2) + contingencia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R14 · Proyecto: el build no trae HU-02, HU-03 ni HU-07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 · Alto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ED-01 a 03 y DEL-01, 02 listos para E2/E3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QA · Panel Organizador · Entrega 1 · Pruebas de Sistema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5650000"/>
            <a:ext cx="1088339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Orden de ejecución: R1 → R2 → R3 → R4 (altos) → R5 a R8 (medios) → R11, R10, R12 (bajos). R1 va primero porque todo depende de la sesión.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Casuística individual: 44 casos en TestLink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70660"/>
          <a:ext cx="10556240" cy="4023360"/>
        </p:xfrm>
        <a:graphic>
          <a:graphicData uri="http://schemas.openxmlformats.org/drawingml/2006/table">
            <a:tbl>
              <a:tblPr/>
              <a:tblGrid>
                <a:gridCol w="2639060"/>
                <a:gridCol w="2639060"/>
                <a:gridCol w="2639060"/>
                <a:gridCol w="2639060"/>
              </a:tblGrid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Técnica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Campo o regla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Valores de prueba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Esperado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Valor límite · VAL-03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nombre_evento (3–120)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 · 3 · 120 · 121 caracteres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400 · 201 · 201 · 400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Valor límite · VAL-06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cantidad_entradas (1–100.000)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 · 1 · 100.000 · 100.001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400 · 201 · 201 · 400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Valor límite · FEC-01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fecha_evento (hora de Chile)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ayer · hoy · mañana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400 · 201 · 201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Tabla de decisión · VAL-08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tipo × precio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PAGADA sin precio · PAGADA 0 · GRATUITA 5000 · GRATUITA sin precio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400 · 400 · 400 · 201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Tabla de decisión · AUT-01, 02, PRO-01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sesión × rol × dueño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sin sesión · asistente · ajeno · dueño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401 · 403 · 403 · 200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Transición de estados · PUB-02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publicar fuera de Borrador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Publicado · Finalizado · Cancelado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409 en los tres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Predicción de errores · AUT-04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Auth tarda 3 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crear evento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503 y no se crea nada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Valor límite · FEC-06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publicar con fecha vencida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Borrador de ayer · Borrador de hoy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400 · 200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QA · Panel Organizador · Entrega 1 · Pruebas de Sistema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Casuística E2E y trazabilidad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3380264" cy="1580000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694182"/>
            <a:ext cx="300683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E2E-01 · Flujo gratuito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480" y="2039621"/>
            <a:ext cx="3006831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Organizador crea y publica → aparece en Catálogo → asistente reserva → recibe QR → Check-in lo valida.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89" y="1463675"/>
            <a:ext cx="3380343" cy="1580000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6294" y="1694182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3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E2E-02 · Flujo pagado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36294" y="2039621"/>
            <a:ext cx="3006913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Crea con precio y publica → Catálogo → compra (Pagos y Entradas) → QR y aviso → Check-in.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82" y="1463675"/>
            <a:ext cx="3380343" cy="1580000"/>
          </a:xfrm>
          <a:prstGeom prst="roundRect">
            <a:avLst>
              <a:gd name="adj" fmla="val 5572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6187" y="1694182"/>
            <a:ext cx="300691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Trazabilidad en TestLink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6187" y="2039621"/>
            <a:ext cx="3006913" cy="74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Keywords PO-RQ-01 a 14: cada caso lleva los requisitos que cubre. 14 de 14 con casos.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260000"/>
          <a:ext cx="10556240" cy="2080000"/>
        </p:xfrm>
        <a:graphic>
          <a:graphicData uri="http://schemas.openxmlformats.org/drawingml/2006/table">
            <a:tbl>
              <a:tblPr/>
              <a:tblGrid>
                <a:gridCol w="3300000"/>
                <a:gridCol w="6056240"/>
                <a:gridCol w="1200000"/>
              </a:tblGrid>
              <a:tr h="2600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Requisito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Casos individuales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E2E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HU-06 Autorización y propiedad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AUT-01, 02, 04, 06 · PRO-01 a 04 · CON-07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HU-01 Crear evento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VAL-02, 03, 06, 08, 09, 10 · FEC-01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01, 02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HU-05 Ver mis eventos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LIS-01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01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HU-04 Publicar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PUB-01 a 04 · FEC-06 · HIS-02 · EXP-03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01, 02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Integraciones (5 servicios)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EXP-01, 02, 04 · FEC-05 · BUS-01 · CON-01, 03 a 06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01, 02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HU-02 Editar · HU-03 Eliminar · HU-07 Notificar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ED-01 a 03 · DEL-01, 02 · NOT-01 (se ejecutan en E2 y E3)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Historial, UI y rendimiento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HIS-02, 04 · AUT-06 · REN-01 a 03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—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QA · Panel Organizador · Entrega 1 · Pruebas de Sistema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Hallazgos de la revisión estática y próximos pasos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162800" y="1463675"/>
            <a:ext cx="3533392" cy="3360000"/>
          </a:xfrm>
          <a:prstGeom prst="roundRect">
            <a:avLst>
              <a:gd name="adj" fmla="val 3610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3305" y="1694182"/>
            <a:ext cx="307238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3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Próximos pasos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93305" y="2039621"/>
            <a:ext cx="3072382" cy="3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1000"/>
              </a:spcAft>
              <a:buNone/>
            </a:pPr>
            <a:r>
              <a:rPr lang="en-US" sz="1400" dirty="0" b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Plan de pruebas y build en TestLink con los 36 casos de la Entrega 1.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1000"/>
              </a:spcAft>
              <a:buNone/>
            </a:pPr>
            <a:r>
              <a:rPr lang="en-US" sz="1400" dirty="0" b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Ejecutar primero R1 a R4 y reportar los fallos en Mantis.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1000"/>
              </a:spcAft>
              <a:buNone/>
            </a:pPr>
            <a:r>
              <a:rPr lang="en-US" sz="1400" dirty="0" b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Acordar con TITEC los tópicos del broker.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1000"/>
              </a:spcAft>
              <a:buNone/>
            </a:pPr>
            <a:r>
              <a:rPr lang="en-US" sz="1400" dirty="0" b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Avance 2: HU-02 y NOT-01. Entrega 3: los E2E.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QA · Panel Organizador · Entrega 1 · Pruebas de Sistema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463675"/>
          <a:ext cx="7100000" cy="3360000"/>
        </p:xfrm>
        <a:graphic>
          <a:graphicData uri="http://schemas.openxmlformats.org/drawingml/2006/table">
            <a:tbl>
              <a:tblPr/>
              <a:tblGrid>
                <a:gridCol w="5000000"/>
                <a:gridCol w="1000000"/>
                <a:gridCol w="1100000"/>
              </a:tblGrid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Hallazgo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Caso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Prioridad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Se puede publicar un Borrador con la fecha ya vencida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FEC-06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Alta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El historial de un Borrador se ve sin sesión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EXP-03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Media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Un organizador lee eventos ajenos por el GET compartido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PRO-04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Media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Check-in espera otro formato de error que el resto de la API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CON-05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Media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Broker sin acordar: HU-07 se prueba en la tabla de salida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NOT-01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Alta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OpenAPI: tags partidos y rutas /panel y /organizador mezcladas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CON-01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Baja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12800" y="4980000"/>
            <a:ext cx="10883392" cy="1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6473"/>
                </a:solidFill>
              </a:rPr>
              <a:t>Códigos de los casos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B7566"/>
                </a:solidFill>
              </a:rPr>
              <a:t>AUT</a:t>
            </a:r>
            <a:r>
              <a:rPr sz="1100" b="0">
                <a:solidFill>
                  <a:srgbClr val="1C2331"/>
                </a:solidFill>
              </a:rPr>
              <a:t> autenticación y rol     </a:t>
            </a:r>
            <a:r>
              <a:rPr sz="1100" b="1">
                <a:solidFill>
                  <a:srgbClr val="1B7566"/>
                </a:solidFill>
              </a:rPr>
              <a:t>PRO</a:t>
            </a:r>
            <a:r>
              <a:rPr sz="1100" b="0">
                <a:solidFill>
                  <a:srgbClr val="1C2331"/>
                </a:solidFill>
              </a:rPr>
              <a:t> propiedad del evento     </a:t>
            </a:r>
            <a:r>
              <a:rPr sz="1100" b="1">
                <a:solidFill>
                  <a:srgbClr val="1B7566"/>
                </a:solidFill>
              </a:rPr>
              <a:t>PUB</a:t>
            </a:r>
            <a:r>
              <a:rPr sz="1100" b="0">
                <a:solidFill>
                  <a:srgbClr val="1C2331"/>
                </a:solidFill>
              </a:rPr>
              <a:t> publicar     </a:t>
            </a:r>
            <a:r>
              <a:rPr sz="1100" b="1">
                <a:solidFill>
                  <a:srgbClr val="1B7566"/>
                </a:solidFill>
              </a:rPr>
              <a:t>VAL</a:t>
            </a:r>
            <a:r>
              <a:rPr sz="1100" b="0">
                <a:solidFill>
                  <a:srgbClr val="1C2331"/>
                </a:solidFill>
              </a:rPr>
              <a:t> validación al crear     </a:t>
            </a:r>
            <a:r>
              <a:rPr sz="1100" b="1">
                <a:solidFill>
                  <a:srgbClr val="1B7566"/>
                </a:solidFill>
              </a:rPr>
              <a:t>FEC</a:t>
            </a:r>
            <a:r>
              <a:rPr sz="1100" b="0">
                <a:solidFill>
                  <a:srgbClr val="1C2331"/>
                </a:solidFill>
              </a:rPr>
              <a:t> fechas y horas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B7566"/>
                </a:solidFill>
              </a:rPr>
              <a:t>EXP</a:t>
            </a:r>
            <a:r>
              <a:rPr sz="1100" b="0">
                <a:solidFill>
                  <a:srgbClr val="1C2331"/>
                </a:solidFill>
              </a:rPr>
              <a:t> visibilidad por estado     </a:t>
            </a:r>
            <a:r>
              <a:rPr sz="1100" b="1">
                <a:solidFill>
                  <a:srgbClr val="1B7566"/>
                </a:solidFill>
              </a:rPr>
              <a:t>CON</a:t>
            </a:r>
            <a:r>
              <a:rPr sz="1100" b="0">
                <a:solidFill>
                  <a:srgbClr val="1C2331"/>
                </a:solidFill>
              </a:rPr>
              <a:t> contratos e integración     </a:t>
            </a:r>
            <a:r>
              <a:rPr sz="1100" b="1">
                <a:solidFill>
                  <a:srgbClr val="1B7566"/>
                </a:solidFill>
              </a:rPr>
              <a:t>HIS</a:t>
            </a:r>
            <a:r>
              <a:rPr sz="1100" b="0">
                <a:solidFill>
                  <a:srgbClr val="1C2331"/>
                </a:solidFill>
              </a:rPr>
              <a:t> historial de estados     </a:t>
            </a:r>
            <a:r>
              <a:rPr sz="1100" b="1">
                <a:solidFill>
                  <a:srgbClr val="1B7566"/>
                </a:solidFill>
              </a:rPr>
              <a:t>BUS</a:t>
            </a:r>
            <a:r>
              <a:rPr sz="1100" b="0">
                <a:solidFill>
                  <a:srgbClr val="1C2331"/>
                </a:solidFill>
              </a:rPr>
              <a:t> búsqueda del Catálogo     </a:t>
            </a:r>
            <a:r>
              <a:rPr sz="1100" b="1">
                <a:solidFill>
                  <a:srgbClr val="1B7566"/>
                </a:solidFill>
              </a:rPr>
              <a:t>LIS</a:t>
            </a:r>
            <a:r>
              <a:rPr sz="1100" b="0">
                <a:solidFill>
                  <a:srgbClr val="1C2331"/>
                </a:solidFill>
              </a:rPr>
              <a:t> mis eventos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1B7566"/>
                </a:solidFill>
              </a:rPr>
              <a:t>NOT</a:t>
            </a:r>
            <a:r>
              <a:rPr sz="1100" b="0">
                <a:solidFill>
                  <a:srgbClr val="1C2331"/>
                </a:solidFill>
              </a:rPr>
              <a:t> notificar cambios (HU-07)     </a:t>
            </a:r>
            <a:r>
              <a:rPr sz="1100" b="1">
                <a:solidFill>
                  <a:srgbClr val="1B7566"/>
                </a:solidFill>
              </a:rPr>
              <a:t>ED</a:t>
            </a:r>
            <a:r>
              <a:rPr sz="1100" b="0">
                <a:solidFill>
                  <a:srgbClr val="1C2331"/>
                </a:solidFill>
              </a:rPr>
              <a:t> editar     </a:t>
            </a:r>
            <a:r>
              <a:rPr sz="1100" b="1">
                <a:solidFill>
                  <a:srgbClr val="1B7566"/>
                </a:solidFill>
              </a:rPr>
              <a:t>DEL</a:t>
            </a:r>
            <a:r>
              <a:rPr sz="1100" b="0">
                <a:solidFill>
                  <a:srgbClr val="1C2331"/>
                </a:solidFill>
              </a:rPr>
              <a:t> eliminar     </a:t>
            </a:r>
            <a:r>
              <a:rPr sz="1100" b="1">
                <a:solidFill>
                  <a:srgbClr val="1B7566"/>
                </a:solidFill>
              </a:rPr>
              <a:t>REN</a:t>
            </a:r>
            <a:r>
              <a:rPr sz="1100" b="0">
                <a:solidFill>
                  <a:srgbClr val="1C2331"/>
                </a:solidFill>
              </a:rPr>
              <a:t> rendimiento     </a:t>
            </a:r>
            <a:r>
              <a:rPr sz="1100" b="1">
                <a:solidFill>
                  <a:srgbClr val="1B7566"/>
                </a:solidFill>
              </a:rPr>
              <a:t>E2E</a:t>
            </a:r>
            <a:r>
              <a:rPr sz="1100" b="0">
                <a:solidFill>
                  <a:srgbClr val="1C2331"/>
                </a:solidFill>
              </a:rPr>
              <a:t> flujo de punta a punta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Qué hay en TestLink: 46 casos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70660"/>
          <a:ext cx="10556240" cy="3420000"/>
        </p:xfrm>
        <a:graphic>
          <a:graphicData uri="http://schemas.openxmlformats.org/drawingml/2006/table">
            <a:tbl>
              <a:tblPr/>
              <a:tblGrid>
                <a:gridCol w="4000000"/>
                <a:gridCol w="1639060"/>
                <a:gridCol w="1639060"/>
                <a:gridCol w="1639060"/>
                <a:gridCol w="1639060"/>
              </a:tblGrid>
              <a:tr h="3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Técnica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Casos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Alta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Media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Baja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0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Tabla de decisión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920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Partición de equivalencia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Valores límite · Transición de estados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Predicción de errores / checklist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Rendimiento · Caja blanca (Entregas 2 y 3)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Exploratorio · Estático · Regresión · Casos de uso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E2E (casos de uso): gratuito y pagado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Total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46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28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16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4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14300" marR="114300" marT="76200" marB="7620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QA · Panel Organizador · Entrega 1 · Pruebas de Sistema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5550000"/>
            <a:ext cx="10883392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Selección: de 60 casos para la Entrega 1 quedaron 35 por puntaje (Σ P × I; 7,3 vs 4,8) + FEC-06 → 36. Se suman los 10 de E2 y E3. Los 25 postergados quedan en la planilla.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Evidencia en TestLink: requisito → casos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39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QA · Panel Organizador · Entrega 1 · Pruebas de Sistema</a:t>
            </a:r>
            <a:endParaRPr lang="en-US" sz="1200" dirty="0"/>
          </a:p>
        </p:txBody>
      </p:sp>
      <p:pic>
        <p:nvPicPr>
          <p:cNvPr id="14" name="Picture 13" descr="filtro_PO-RQ-05_HU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1380000"/>
            <a:ext cx="10100000" cy="38122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2800" y="5292255"/>
            <a:ext cx="101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</a:rPr>
              <a:t>Filtro por la keyword «PO-RQ-05 · HU-04 Publicar un evento»: PUB-01 a 04, FEC-06 y los E2E pagado y gratuito, con técnica, riesgo y entrega.</a:t>
            </a:r>
          </a:p>
          <a:p>
            <a:r>
              <a:rPr sz="1100">
                <a:solidFill>
                  <a:srgbClr val="1F2937"/>
                </a:solidFill>
              </a:rPr>
              <a:t>Cada caso lleva como keyword los requisitos que cubre (PO-RQ-01 a 14): los 14 tienen casos. «7 · Panel Organizador» tiene 46 casos (44 + 2 E2E).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Equipo QA y responsabilidades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1"/>
            <a:ext cx="91567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QA · Panel Organizador · Entrega 1 · Pruebas de Sistema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5975" y="1463675"/>
            <a:ext cx="2500000" cy="235000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480" y="1694180"/>
            <a:ext cx="203899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Lucas Rojas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6480" y="2039620"/>
            <a:ext cx="203899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 b="1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Gestión de pruebas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Plan, matriz de riesgos, criterios y métricas. Coordinación con TITEC y con el docente. Riesgos de proyecto R13, R14 y R16.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495975" y="1463675"/>
            <a:ext cx="2500000" cy="235000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26480" y="1694180"/>
            <a:ext cx="203899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Alonso Vera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26480" y="2039620"/>
            <a:ext cx="203899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 b="1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Tester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Autorización, propiedad, crear y publicar evento: AUT, PRO, PUB, VAL, FEC, BUS y LIS (R1, R2, R3, R5, R6, R10, R11).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175975" y="1463675"/>
            <a:ext cx="2500000" cy="235000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6480" y="1694180"/>
            <a:ext cx="203899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Christopher Okinggton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6480" y="2039620"/>
            <a:ext cx="203899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 b="1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Tester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Visibilidad por estado, contratos, historial, mensajería y rendimiento: EXP, CON, HIS, NOT y REN. Regresión con Newman.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855975" y="1463675"/>
            <a:ext cx="2500000" cy="2350000"/>
          </a:xfrm>
          <a:prstGeom prst="roundRect">
            <a:avLst>
              <a:gd name="adj" fmla="val 6448"/>
            </a:avLst>
          </a:prstGeom>
          <a:solidFill>
            <a:srgbClr val="FFFFFF"/>
          </a:solidFill>
          <a:ln w="6350">
            <a:solidFill>
              <a:srgbClr val="DCD8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6480" y="1694180"/>
            <a:ext cx="203899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F6F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Joaquín Martínez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086480" y="2039620"/>
            <a:ext cx="203899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 b="1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Tester</a:t>
            </a:r>
            <a:endParaRPr lang="en-US" sz="140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Interfaz y exploratorios, ambiente y herramientas: AUT-06 y UI; Docker, TestLink y Mantis (R12, R15, R18).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ga 1 · QA Panel Organizador (TicketU)">
  <a:themeElements>
    <a:clrScheme name="Entrega 1 · QA Panel Organizador (TicketU)">
      <a:dk1>
        <a:srgbClr val="1B2430"/>
      </a:dk1>
      <a:lt1>
        <a:srgbClr val="F6F4EF"/>
      </a:lt1>
      <a:dk2>
        <a:srgbClr val="525860"/>
      </a:dk2>
      <a:lt2>
        <a:srgbClr val="E0DFDC"/>
      </a:lt2>
      <a:accent1>
        <a:srgbClr val="1F6F68"/>
      </a:accent1>
      <a:accent2>
        <a:srgbClr val="B4531F"/>
      </a:accent2>
      <a:accent3>
        <a:srgbClr val="E8A37A"/>
      </a:accent3>
      <a:accent4>
        <a:srgbClr val="6A7179"/>
      </a:accent4>
      <a:accent5>
        <a:srgbClr val="9AA0A6"/>
      </a:accent5>
      <a:accent6>
        <a:srgbClr val="73777C"/>
      </a:accent6>
      <a:hlink>
        <a:srgbClr val="0563C1"/>
      </a:hlink>
      <a:folHlink>
        <a:srgbClr val="954F72"/>
      </a:folHlink>
    </a:clrScheme>
    <a:fontScheme name="Entrega 1 · QA Panel Organizador (TicketU)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Entrega 1 · QA Panel Organizador (TicketU)</dc:title>
  <dc:subject/>
  <dc:creator/>
  <cp:lastModifiedBy/>
  <cp:revision>1</cp:revision>
  <dcterms:created xsi:type="dcterms:W3CDTF">2026-10-22T21:47:54Z</dcterms:created>
  <dcterms:modified xsi:type="dcterms:W3CDTF">2026-10-22T21:47:54Z</dcterms:modified>
</cp:coreProperties>
</file>