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5" r:id="rId16"/>
    <p:sldId id="259" r:id="rId5"/>
    <p:sldId id="260" r:id="rId6"/>
    <p:sldId id="263" r:id="rId14"/>
    <p:sldId id="261" r:id="rId7"/>
    <p:sldId id="264" r:id="rId15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812800"/>
            <a:ext cx="105664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000" dirty="0">
                <a:solidFill>
                  <a:srgbClr val="1B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0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536700"/>
            <a:ext cx="10566400" cy="450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812800"/>
            <a:ext cx="105664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000" dirty="0">
                <a:solidFill>
                  <a:srgbClr val="1B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0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536700"/>
            <a:ext cx="10566400" cy="450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00" kern="0" dirty="0">
                <a:solidFill>
                  <a:srgbClr val="E8A3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PRUEBAS DE SISTEMA × TITEC · ENTREGA 1</a:t>
            </a:r>
            <a:endParaRPr lang="en-US" sz="14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290320"/>
            <a:ext cx="10883392" cy="1412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460"/>
              </a:lnSpc>
              <a:buNone/>
            </a:pPr>
            <a:r>
              <a:rPr lang="en-US" sz="5200" b="1" i="0" dirty="0">
                <a:solidFill>
                  <a:srgbClr val="F6F4EF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Estrategia y casuística de pruebas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812800" y="2905760"/>
            <a:ext cx="10883392" cy="360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200" dirty="0">
                <a:solidFill>
                  <a:srgbClr val="E8A3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Microservicio 7 · Panel Organizador (TicketU)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12800" y="3469640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6F4E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Grupo 1 · Lucas Rojas · Alonso Vera · Christopher Okinggton · Joaquín Martínez · Viernes 23/10/2026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430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Qué probamos y con qué riesgo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15975" y="1463675"/>
            <a:ext cx="3380264" cy="1526540"/>
          </a:xfrm>
          <a:prstGeom prst="roundRect">
            <a:avLst>
              <a:gd name="adj" fmla="val 6448"/>
            </a:avLst>
          </a:prstGeom>
          <a:solidFill>
            <a:srgbClr val="FFFFFF"/>
          </a:solidFill>
          <a:ln w="6350">
            <a:solidFill>
              <a:srgbClr val="DCD8C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46480" y="1694180"/>
            <a:ext cx="3006831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F6F6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Servicio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46480" y="2039620"/>
            <a:ext cx="3006831" cy="745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Panel Organizador: el organizador autenticado crea, edita, publica y gestiona sus eventos.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405789" y="1463675"/>
            <a:ext cx="3380343" cy="1526540"/>
          </a:xfrm>
          <a:prstGeom prst="roundRect">
            <a:avLst>
              <a:gd name="adj" fmla="val 6448"/>
            </a:avLst>
          </a:prstGeom>
          <a:solidFill>
            <a:srgbClr val="FFFFFF"/>
          </a:solidFill>
          <a:ln w="6350">
            <a:solidFill>
              <a:srgbClr val="DCD8C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36294" y="1694180"/>
            <a:ext cx="3006913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B453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Riesgo principal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636294" y="2039620"/>
            <a:ext cx="3006913" cy="745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Que se publique un evento inválido: fecha pasada, capacidad 0 o tipo sin definir.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995682" y="1463675"/>
            <a:ext cx="3380343" cy="1526540"/>
          </a:xfrm>
          <a:prstGeom prst="roundRect">
            <a:avLst>
              <a:gd name="adj" fmla="val 6448"/>
            </a:avLst>
          </a:prstGeom>
          <a:solidFill>
            <a:srgbClr val="FFFFFF"/>
          </a:solidFill>
          <a:ln w="6350">
            <a:solidFill>
              <a:srgbClr val="DCD8C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6187" y="1694180"/>
            <a:ext cx="3006913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F6F6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Alcance del Avance 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6187" y="2039620"/>
            <a:ext cx="3006913" cy="745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HU-06 · HU-01 · HU-05 · HU-04 y 6 endpoints de integración (commit 1d8a68e).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12800" y="3221990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Ciclo de vida: </a:t>
            </a:r>
            <a:r>
              <a:rPr lang="en-US" sz="1500" b="1" dirty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Borrador → Publicado → Finalizado / Cancelado</a:t>
            </a:r>
            <a:r>
              <a:rPr lang="en-US" sz="1500" dirty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. Solo un Borrador puede publicarse.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12800" y="6238241"/>
            <a:ext cx="91567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A717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QA · Panel Organizador · Entrega 1 · Pruebas de Sistema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815975" y="3763675"/>
            <a:ext cx="3380264" cy="1526540"/>
          </a:xfrm>
          <a:prstGeom prst="roundRect">
            <a:avLst>
              <a:gd name="adj" fmla="val 6448"/>
            </a:avLst>
          </a:prstGeom>
          <a:solidFill>
            <a:srgbClr val="FFFFFF"/>
          </a:solidFill>
          <a:ln w="6350">
            <a:solidFill>
              <a:srgbClr val="DCD8C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46480" y="3994180"/>
            <a:ext cx="3006831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F6F6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18 riesgos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46480" y="4339620"/>
            <a:ext cx="3006831" cy="745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12 de producto y 6 de proyecto · 6 altos, 8 medios y 4 bajos.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405789" y="3763675"/>
            <a:ext cx="3380343" cy="1526540"/>
          </a:xfrm>
          <a:prstGeom prst="roundRect">
            <a:avLst>
              <a:gd name="adj" fmla="val 6448"/>
            </a:avLst>
          </a:prstGeom>
          <a:solidFill>
            <a:srgbClr val="FFFFFF"/>
          </a:solidFill>
          <a:ln w="6350">
            <a:solidFill>
              <a:srgbClr val="DCD8C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36294" y="3994180"/>
            <a:ext cx="3006913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B453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46 casos en TestLink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636294" y="4339620"/>
            <a:ext cx="3006913" cy="745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44 individuales (34 para la Entrega 1 y 10 para E2 y E3) + 2 E2E · 28 de importancia alta.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995682" y="3763675"/>
            <a:ext cx="3380343" cy="1526540"/>
          </a:xfrm>
          <a:prstGeom prst="roundRect">
            <a:avLst>
              <a:gd name="adj" fmla="val 6448"/>
            </a:avLst>
          </a:prstGeom>
          <a:solidFill>
            <a:srgbClr val="FFFFFF"/>
          </a:solidFill>
          <a:ln w="6350">
            <a:solidFill>
              <a:srgbClr val="DCD8C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6187" y="3994180"/>
            <a:ext cx="3006913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F6F6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100 % de trazabilidad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6187" y="4339620"/>
            <a:ext cx="3006913" cy="745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14 de 14 requisitos con casos y los 12 riesgos de producto cubiertos.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430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Estrategia de pruebas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470660"/>
          <a:ext cx="10556240" cy="3920000"/>
        </p:xfrm>
        <a:graphic>
          <a:graphicData uri="http://schemas.openxmlformats.org/drawingml/2006/table">
            <a:tbl>
              <a:tblPr/>
              <a:tblGrid>
                <a:gridCol w="2600000"/>
                <a:gridCol w="7956240"/>
              </a:tblGrid>
              <a:tr h="56000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6F4E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Elemento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6F4E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Definición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Enfoque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Basado en riesgos (P × I) + metódico, consultivo con TITEC y anti-regresión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Alcance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Dentro: HU-06, HU-01, HU-05, HU-04 y endpoints de integración, por API REST. Fuera: Auth real, otros servicios y broker. HU-02 y HU-03 diseñadas para E2 y E3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Niveles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Estático (HU, OpenAPI, SonarQube) · Componente (API) · Sistema (E2E, se ejecutan en E3)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Tipos y técnicas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Funcional, negativo, contrato, regresión · tabla de decisión, particiones, valores límite, estados, casos de uso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Ambiente y herramientas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Local: Docker, MongoDB 8, mock de Auth y seed fijo · TestLink, Mantis, Postman/Newman, Redocly, SonarQube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Criterios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Entrada: commit, /health 200, seed y smoke · Salida: 100 % alta, ≥ 90 % media, 0 críticos · Suspensión: caída &gt; 30 min o &gt; 30 % bloqueados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812800" y="6238241"/>
            <a:ext cx="91567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A717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QA · Panel Organizador · Entrega 1 · Pruebas de Sistema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430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Riesgos priorizados: los 6 altos de 18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470660"/>
          <a:ext cx="10556240" cy="3360000"/>
        </p:xfrm>
        <a:graphic>
          <a:graphicData uri="http://schemas.openxmlformats.org/drawingml/2006/table">
            <a:tbl>
              <a:tblPr/>
              <a:tblGrid>
                <a:gridCol w="4300000"/>
                <a:gridCol w="900000"/>
                <a:gridCol w="900000"/>
                <a:gridCol w="1300000"/>
                <a:gridCol w="3156240"/>
              </a:tblGrid>
              <a:tr h="48000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6F4E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Riesgo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6F4E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Impacto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6F4E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Prob.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6F4E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Prioridad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6F4E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Cobertura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R1 · Sesión inválida o Auth caído y aun así se opera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3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3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9 · Alto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AUT-01, 02, 04, 06 · CON-07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R2 · Un organizador opera eventos ajenos o impone dueño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3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6 · Alto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PRO-01 a 04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R3 · Publicación en estado no permitido, incompleta o duplicada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3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6 · Alto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PUB-01 a 04 · FEC-06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R4 · Evento no publicado visible para Catálogo o sin sesión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3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6 · Alto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EXP-01 a 04 · FEC-05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R13 · Proyecto: tópicos del broker sin acordar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3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6 · Alto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NOT-01 sobre la tabla de salida (E2) + contingencia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R14 · Proyecto: el build no trae HU-02, HU-03 ni HU-07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3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6 · Alto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ED-01 a 03 y DEL-01, 02 listos para E2/E3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812800" y="6238239"/>
            <a:ext cx="91567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A717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QA · Panel Organizador · Entrega 1 · Pruebas de Sistema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12800" y="5650000"/>
            <a:ext cx="10883392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Orden de ejecución: R1 → R2 → R3 → R4 (altos) → R5 a R8 (medios) → R11, R10, R12 (bajos). R1 va primero porque todo depende de la sesión.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430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Casuística individual: 44 casos en TestLink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470660"/>
          <a:ext cx="10556240" cy="4023360"/>
        </p:xfrm>
        <a:graphic>
          <a:graphicData uri="http://schemas.openxmlformats.org/drawingml/2006/table">
            <a:tbl>
              <a:tblPr/>
              <a:tblGrid>
                <a:gridCol w="2639060"/>
                <a:gridCol w="2639060"/>
                <a:gridCol w="2639060"/>
                <a:gridCol w="2639060"/>
              </a:tblGrid>
              <a:tr h="37592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6F4E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Técnica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6F4E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Campo o regla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6F4E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Valores de prueba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6F4E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Esperado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Valor límite · VAL-03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nombre_evento (3–120)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 · 3 · 120 · 121 caracteres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400 · 201 · 201 · 400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Valor límite · VAL-06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cantidad_entradas (1–100.000)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0 · 1 · 100.000 · 100.001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400 · 201 · 201 · 400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Valor límite · FEC-01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fecha_evento (hora de Chile)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ayer · hoy · mañana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400 · 201 · 201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Tabla de decisión · VAL-08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tipo × precio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PAGADA sin precio · PAGADA 0 · GRATUITA 5000 · GRATUITA sin precio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400 · 400 · 400 · 201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928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Tabla de decisión · AUT-01, 02, PRO-01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sesión × rol × dueño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sin sesión · asistente · ajeno · dueño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401 · 403 · 403 · 200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928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Transición de estados · PUB-02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publicar fuera de Borrador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Publicado · Finalizado · Cancelado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409 en los tres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928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Predicción de errores · AUT-04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Auth tarda 3 s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crear evento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503 y no se crea nada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Valor límite · FEC-06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publicar con fecha vencida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Borrador de ayer · Borrador de hoy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400 · 200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812800" y="6238239"/>
            <a:ext cx="91567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A717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QA · Panel Organizador · Entrega 1 · Pruebas de Sistema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430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Casuística E2E y trazabilidad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15975" y="1463675"/>
            <a:ext cx="3380264" cy="1580000"/>
          </a:xfrm>
          <a:prstGeom prst="roundRect">
            <a:avLst>
              <a:gd name="adj" fmla="val 5572"/>
            </a:avLst>
          </a:prstGeom>
          <a:solidFill>
            <a:srgbClr val="FFFFFF"/>
          </a:solidFill>
          <a:ln w="6350">
            <a:solidFill>
              <a:srgbClr val="DCD8C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46480" y="1694182"/>
            <a:ext cx="3006831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F6F6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E2E-01 · Flujo gratuito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46480" y="2039621"/>
            <a:ext cx="3006831" cy="985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Organizador crea y publica → aparece en Catálogo → asistente reserva → recibe QR → Check-in lo valida.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405789" y="1463675"/>
            <a:ext cx="3380343" cy="1580000"/>
          </a:xfrm>
          <a:prstGeom prst="roundRect">
            <a:avLst>
              <a:gd name="adj" fmla="val 5572"/>
            </a:avLst>
          </a:prstGeom>
          <a:solidFill>
            <a:srgbClr val="FFFFFF"/>
          </a:solidFill>
          <a:ln w="6350">
            <a:solidFill>
              <a:srgbClr val="DCD8C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36294" y="1694182"/>
            <a:ext cx="3006913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B453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E2E-02 · Flujo pagado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636294" y="2039621"/>
            <a:ext cx="3006913" cy="985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Crea con precio y publica → Catálogo → compra (Pagos y Entradas) → QR y aviso → Check-in.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995682" y="1463675"/>
            <a:ext cx="3380343" cy="1580000"/>
          </a:xfrm>
          <a:prstGeom prst="roundRect">
            <a:avLst>
              <a:gd name="adj" fmla="val 5572"/>
            </a:avLst>
          </a:prstGeom>
          <a:solidFill>
            <a:srgbClr val="FFFFFF"/>
          </a:solidFill>
          <a:ln w="6350">
            <a:solidFill>
              <a:srgbClr val="DCD8C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6187" y="1694182"/>
            <a:ext cx="3006913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F6F6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Trazabilidad en TestLink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6187" y="2039621"/>
            <a:ext cx="3006913" cy="745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Keywords PO-RQ-01 a 14: cada caso lleva los requisitos que cubre. 14 de 14 con casos.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3260000"/>
          <a:ext cx="10556240" cy="2080000"/>
        </p:xfrm>
        <a:graphic>
          <a:graphicData uri="http://schemas.openxmlformats.org/drawingml/2006/table">
            <a:tbl>
              <a:tblPr/>
              <a:tblGrid>
                <a:gridCol w="3300000"/>
                <a:gridCol w="6056240"/>
                <a:gridCol w="1200000"/>
              </a:tblGrid>
              <a:tr h="2600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F6F4E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Requisito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F6F4E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Casos individuales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F6F4E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E2E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2600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HU-06 Autorización y propiedad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AUT-01, 02, 04, 06 · PRO-01 a 04 · CON-07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—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0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HU-01 Crear evento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VAL-02, 03, 06, 08, 09, 10 · FEC-01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01, 02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0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HU-05 Ver mis eventos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LIS-01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01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0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HU-04 Publicar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PUB-01 a 04 · FEC-06 · HIS-02 · EXP-03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01, 02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0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Integraciones (5 servicios)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EXP-01, 02, 04 · FEC-05 · BUS-01 · CON-01, 03 a 06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01, 02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0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HU-02 Editar · HU-03 Eliminar · HU-07 Notificar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ED-01 a 03 · DEL-01, 02 · NOT-01 (se ejecutan en E2 y E3)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—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0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Historial, UI y rendimiento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HIS-02, 04 · AUT-06 · REN-01 a 03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—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812800" y="6238239"/>
            <a:ext cx="91567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A717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QA · Panel Organizador · Entrega 1 · Pruebas de Sistema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430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Hallazgos de revisión estática y próximos pasos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15975" y="1463675"/>
            <a:ext cx="5175250" cy="4400000"/>
          </a:xfrm>
          <a:prstGeom prst="roundRect">
            <a:avLst>
              <a:gd name="adj" fmla="val 3610"/>
            </a:avLst>
          </a:prstGeom>
          <a:solidFill>
            <a:srgbClr val="FFFFFF"/>
          </a:solidFill>
          <a:ln w="6350">
            <a:solidFill>
              <a:srgbClr val="DCD8C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46480" y="1694182"/>
            <a:ext cx="4855667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F6F6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Hallazgos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46480" y="2039621"/>
            <a:ext cx="4855667" cy="3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0" dirty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Publicar no vuelve a validar la fecha: un Borrador cuya fecha ya pasó se puede publicar (HU-04 no lo exige; caso FEC-06).</a:t>
            </a:r>
            <a:endParaRPr lang="en-US" sz="1400" dirty="0"/>
          </a:p>
          <a:p>
            <a:pPr algn="l" indent="0" marL="0">
              <a:lnSpc>
                <a:spcPts val="1890"/>
              </a:lnSpc>
              <a:buNone/>
            </a:pPr>
            <a:r>
              <a:rPr lang="en-US" sz="1400" b="0" dirty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El historial de cambios de un Borrador se ve sin sesión (EXP-03).</a:t>
            </a:r>
            <a:endParaRPr lang="en-US" sz="1400" dirty="0"/>
          </a:p>
          <a:p>
            <a:pPr algn="l" indent="0" marL="0">
              <a:lnSpc>
                <a:spcPts val="1890"/>
              </a:lnSpc>
              <a:buNone/>
            </a:pPr>
            <a:r>
              <a:rPr lang="en-US" sz="1400" b="0" dirty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Check-in v1.2 pide errores { codigo_http, error, mensaje }; el resto de la API usa otro formato (CON-05).</a:t>
            </a:r>
            <a:endParaRPr lang="en-US" sz="1400" dirty="0"/>
          </a:p>
          <a:p>
            <a:pPr algn="l" indent="0" marL="0">
              <a:lnSpc>
                <a:spcPts val="1890"/>
              </a:lnSpc>
              <a:buNone/>
            </a:pPr>
            <a:r>
              <a:rPr lang="en-US" sz="1400" b="0" dirty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Un organizador puede leer eventos ajenos por el GET compartido de Entradas y Check-in (PRO-04, consulta a TITEC).</a:t>
            </a:r>
            <a:endParaRPr lang="en-US" sz="1400" dirty="0"/>
          </a:p>
          <a:p>
            <a:pPr algn="l" indent="0" marL="0">
              <a:lnSpc>
                <a:spcPts val="1890"/>
              </a:lnSpc>
              <a:buNone/>
            </a:pPr>
            <a:r>
              <a:rPr lang="en-US" sz="1400" b="0" dirty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Los 5 contratos tienen el tópico «pendiente de acuerdo»: HU-07 se prueba sobre la tabla de salida (NOT-01).</a:t>
            </a:r>
            <a:endParaRPr lang="en-US" sz="1400" dirty="0"/>
          </a:p>
          <a:p>
            <a:pPr algn="l" indent="0" marL="0">
              <a:lnSpc>
                <a:spcPts val="1890"/>
              </a:lnSpc>
              <a:buNone/>
            </a:pPr>
            <a:r>
              <a:rPr lang="en-US" sz="1400" b="0" dirty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OpenAPI del Avance 1: tags partidos en tres y rutas que mezclan /panel y /organizador.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00775" y="1463675"/>
            <a:ext cx="5175250" cy="4400000"/>
          </a:xfrm>
          <a:prstGeom prst="roundRect">
            <a:avLst>
              <a:gd name="adj" fmla="val 3610"/>
            </a:avLst>
          </a:prstGeom>
          <a:solidFill>
            <a:srgbClr val="FFFFFF"/>
          </a:solidFill>
          <a:ln w="6350">
            <a:solidFill>
              <a:srgbClr val="DCD8C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31280" y="1694182"/>
            <a:ext cx="4855667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B453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Próximos pasos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31280" y="2039621"/>
            <a:ext cx="4855667" cy="3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 b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Plan de pruebas en TestLink con los 36 de la Entrega 1 (keyword «PO · Entrega 1 · priorizado») y el build del commit 1d8a68e.</a:t>
            </a:r>
            <a:endParaRPr lang="en-US" sz="1400" dirty="0"/>
          </a:p>
          <a:p>
            <a:pPr algn="l" indent="0" marL="0">
              <a:lnSpc>
                <a:spcPts val="1890"/>
              </a:lnSpc>
              <a:buNone/>
            </a:pPr>
            <a:r>
              <a:rPr lang="en-US" sz="1400" dirty="0" b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Ejecutar primero R1 → R4 y reportar los Failed en Mantis.</a:t>
            </a:r>
            <a:endParaRPr lang="en-US" sz="1400" dirty="0"/>
          </a:p>
          <a:p>
            <a:pPr algn="l" indent="0" marL="0">
              <a:lnSpc>
                <a:spcPts val="1890"/>
              </a:lnSpc>
              <a:buNone/>
            </a:pPr>
            <a:r>
              <a:rPr lang="en-US" sz="1400" dirty="0" b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Acordar con TITEC los tópicos del broker (R13) para probar HU-07.</a:t>
            </a:r>
            <a:endParaRPr lang="en-US" sz="1400" dirty="0"/>
          </a:p>
          <a:p>
            <a:pPr algn="l" indent="0" marL="0">
              <a:lnSpc>
                <a:spcPts val="1890"/>
              </a:lnSpc>
              <a:buNone/>
            </a:pPr>
            <a:r>
              <a:rPr lang="en-US" sz="1400" dirty="0" b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Ejecutar HU-02 y NOT-01 sobre el Avance 2 (22/10) y los E2E en la Entrega 3.</a:t>
            </a:r>
            <a:endParaRPr lang="en-US" sz="1400" dirty="0"/>
          </a:p>
          <a:p>
            <a:pPr algn="l" indent="0" marL="0">
              <a:lnSpc>
                <a:spcPts val="1890"/>
              </a:lnSpc>
              <a:buNone/>
            </a:pPr>
            <a:r>
              <a:rPr lang="en-US" sz="1400" dirty="0" b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Ajustar el plan cuando se definan las Entregas 2 y 3.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12800" y="6238239"/>
            <a:ext cx="91567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A717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QA · Panel Organizador · Entrega 1 · Pruebas de Sistema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430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Qué hay en TestLink: 46 casos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470660"/>
          <a:ext cx="10556240" cy="3420000"/>
        </p:xfrm>
        <a:graphic>
          <a:graphicData uri="http://schemas.openxmlformats.org/drawingml/2006/table">
            <a:tbl>
              <a:tblPr/>
              <a:tblGrid>
                <a:gridCol w="4000000"/>
                <a:gridCol w="1639060"/>
                <a:gridCol w="1639060"/>
                <a:gridCol w="1639060"/>
                <a:gridCol w="1639060"/>
              </a:tblGrid>
              <a:tr h="38000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6F4E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Técnica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6F4E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Casos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6F4E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Alta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6F4E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Media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6F4E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Baja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38000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Tabla de decisión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12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10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0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000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Partición de equivalencia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7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3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000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Valores límite · Transición de estados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10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6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4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0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000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Predicción de errores / checklist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5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4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0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000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Rendimiento · Caja blanca (Entregas 2 y 3)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4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0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4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0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000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Exploratorio · Estático · Regresión · Casos de uso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6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4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0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000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E2E (casos de uso): gratuito y pagado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0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0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000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Total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46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28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16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812800" y="6238239"/>
            <a:ext cx="91567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A717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QA · Panel Organizador · Entrega 1 · Pruebas de Sistema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12800" y="5550000"/>
            <a:ext cx="10883392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Selección: de 60 casos para la Entrega 1 quedaron 35 por puntaje (Σ P × I; 7,3 vs 4,8) + FEC-06 → 36. Se suman los 10 de E2 y E3. Los 25 postergados quedan en la planilla.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430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Evidencia en TestLink: requisito → casos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812800" y="6238239"/>
            <a:ext cx="91567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A717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QA · Panel Organizador · Entrega 1 · Pruebas de Sistema</a:t>
            </a:r>
            <a:endParaRPr lang="en-US" sz="1200" dirty="0"/>
          </a:p>
        </p:txBody>
      </p:sp>
      <p:pic>
        <p:nvPicPr>
          <p:cNvPr id="14" name="Picture 13" descr="filtro_PO-RQ-05_HU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380000"/>
            <a:ext cx="10100000" cy="381225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12800" y="5292255"/>
            <a:ext cx="101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F2937"/>
                </a:solidFill>
              </a:rPr>
              <a:t>Filtro por la keyword «PO-RQ-05 · HU-04 Publicar un evento»: PUB-01 a 04, FEC-06 y los E2E pagado y gratuito, con técnica, riesgo y entrega.</a:t>
            </a:r>
          </a:p>
          <a:p>
            <a:r>
              <a:rPr sz="1100">
                <a:solidFill>
                  <a:srgbClr val="1F2937"/>
                </a:solidFill>
              </a:rPr>
              <a:t>Cada caso lleva como keyword los requisitos que cubre (PO-RQ-01 a 14): los 14 tienen casos. «7 · Panel Organizador» tiene 46 casos (44 + 2 E2E).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430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Equipo QA y responsabilidades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12800" y="6238241"/>
            <a:ext cx="91567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A717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QA · Panel Organizador · Entrega 1 · Pruebas de Sistema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815975" y="1463675"/>
            <a:ext cx="2500000" cy="2350000"/>
          </a:xfrm>
          <a:prstGeom prst="roundRect">
            <a:avLst>
              <a:gd name="adj" fmla="val 6448"/>
            </a:avLst>
          </a:prstGeom>
          <a:solidFill>
            <a:srgbClr val="FFFFFF"/>
          </a:solidFill>
          <a:ln w="6350">
            <a:solidFill>
              <a:srgbClr val="DCD8C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46480" y="1694180"/>
            <a:ext cx="2038990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F6F6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Lucas Rojas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46480" y="2039620"/>
            <a:ext cx="2038990" cy="1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 b="1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Gestión de pruebas</a:t>
            </a:r>
            <a:endParaRPr lang="en-US" sz="1400" dirty="0"/>
          </a:p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Plan, matriz de riesgos, criterios y métricas. Coordinación con TITEC y con el docente. Riesgos de proyecto R13, R14 y R16.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3495975" y="1463675"/>
            <a:ext cx="2500000" cy="2350000"/>
          </a:xfrm>
          <a:prstGeom prst="roundRect">
            <a:avLst>
              <a:gd name="adj" fmla="val 6448"/>
            </a:avLst>
          </a:prstGeom>
          <a:solidFill>
            <a:srgbClr val="FFFFFF"/>
          </a:solidFill>
          <a:ln w="6350">
            <a:solidFill>
              <a:srgbClr val="DCD8C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726480" y="1694180"/>
            <a:ext cx="2038990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F6F6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Alonso Vera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726480" y="2039620"/>
            <a:ext cx="2038990" cy="1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 b="1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Tester</a:t>
            </a:r>
            <a:endParaRPr lang="en-US" sz="1400" dirty="0"/>
          </a:p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Autorización, propiedad, crear y publicar evento: AUT, PRO, PUB, VAL, FEC, BUS y LIS (R1, R2, R3, R5, R6, R10, R11).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6175975" y="1463675"/>
            <a:ext cx="2500000" cy="2350000"/>
          </a:xfrm>
          <a:prstGeom prst="roundRect">
            <a:avLst>
              <a:gd name="adj" fmla="val 6448"/>
            </a:avLst>
          </a:prstGeom>
          <a:solidFill>
            <a:srgbClr val="FFFFFF"/>
          </a:solidFill>
          <a:ln w="6350">
            <a:solidFill>
              <a:srgbClr val="DCD8C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6480" y="1694180"/>
            <a:ext cx="2038990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F6F6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Christopher Okinggton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6480" y="2039620"/>
            <a:ext cx="2038990" cy="1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 b="1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Tester</a:t>
            </a:r>
            <a:endParaRPr lang="en-US" sz="1400" dirty="0"/>
          </a:p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Visibilidad por estado, contratos, historial, mensajería y rendimiento: EXP, CON, HIS, NOT y REN. Regresión con Newman.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8855975" y="1463675"/>
            <a:ext cx="2500000" cy="2350000"/>
          </a:xfrm>
          <a:prstGeom prst="roundRect">
            <a:avLst>
              <a:gd name="adj" fmla="val 6448"/>
            </a:avLst>
          </a:prstGeom>
          <a:solidFill>
            <a:srgbClr val="FFFFFF"/>
          </a:solidFill>
          <a:ln w="6350">
            <a:solidFill>
              <a:srgbClr val="DCD8C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86480" y="1694180"/>
            <a:ext cx="2038990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F6F6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Joaquín Martínez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086480" y="2039620"/>
            <a:ext cx="2038990" cy="1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 b="1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Tester</a:t>
            </a:r>
            <a:endParaRPr lang="en-US" sz="1400" dirty="0"/>
          </a:p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Interfaz y exploratorios, ambiente y herramientas: AUT-06 y UI; Docker, TestLink y Mantis (R12, R15, R18).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12800" y="4100000"/>
            <a:ext cx="10883392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 b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Dedicación: 8 h por semana cada uno (25 %). Esfuerzo estimado de la Entrega 1: 52 h.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500" dirty="0" b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Presentan: Lucas (1–4) · Alonso (5–6) · Christopher (7–8) · Joaquín (9–10).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ntrega 1 · QA Panel Organizador (TicketU)">
  <a:themeElements>
    <a:clrScheme name="Entrega 1 · QA Panel Organizador (TicketU)">
      <a:dk1>
        <a:srgbClr val="1B2430"/>
      </a:dk1>
      <a:lt1>
        <a:srgbClr val="F6F4EF"/>
      </a:lt1>
      <a:dk2>
        <a:srgbClr val="525860"/>
      </a:dk2>
      <a:lt2>
        <a:srgbClr val="E0DFDC"/>
      </a:lt2>
      <a:accent1>
        <a:srgbClr val="1F6F68"/>
      </a:accent1>
      <a:accent2>
        <a:srgbClr val="B4531F"/>
      </a:accent2>
      <a:accent3>
        <a:srgbClr val="E8A37A"/>
      </a:accent3>
      <a:accent4>
        <a:srgbClr val="6A7179"/>
      </a:accent4>
      <a:accent5>
        <a:srgbClr val="9AA0A6"/>
      </a:accent5>
      <a:accent6>
        <a:srgbClr val="73777C"/>
      </a:accent6>
      <a:hlink>
        <a:srgbClr val="0563C1"/>
      </a:hlink>
      <a:folHlink>
        <a:srgbClr val="954F72"/>
      </a:folHlink>
    </a:clrScheme>
    <a:fontScheme name="Entrega 1 · QA Panel Organizador (TicketU)">
      <a:majorFont>
        <a:latin typeface="Helvetic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Helvetica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Entrega 1 · QA Panel Organizador (TicketU)</dc:title>
  <dc:subject/>
  <dc:creator/>
  <cp:lastModifiedBy/>
  <cp:revision>1</cp:revision>
  <dcterms:created xsi:type="dcterms:W3CDTF">2026-10-22T21:47:54Z</dcterms:created>
  <dcterms:modified xsi:type="dcterms:W3CDTF">2026-10-22T21:47:54Z</dcterms:modified>
</cp:coreProperties>
</file>